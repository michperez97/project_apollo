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pollo_bg_v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411480"/>
            <a:ext cx="109118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200" b="1">
                <a:solidFill>
                  <a:srgbClr val="1C1D1F"/>
                </a:solidFill>
                <a:latin typeface="Avenir Next"/>
              </a:rPr>
              <a:t>Project Apollo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118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>
                <a:solidFill>
                  <a:srgbClr val="3D3D3D"/>
                </a:solidFill>
                <a:latin typeface="Avenir Next"/>
              </a:rPr>
              <a:t>Online Course Marketplace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965960"/>
            <a:ext cx="109118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>
                <a:solidFill>
                  <a:srgbClr val="3D3D3D"/>
                </a:solidFill>
                <a:latin typeface="Avenir Next"/>
              </a:rPr>
              <a:t>January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pollo_bg_v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411480"/>
            <a:ext cx="109118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200" b="1">
                <a:solidFill>
                  <a:srgbClr val="1C1D1F"/>
                </a:solidFill>
                <a:latin typeface="Avenir Next"/>
              </a:rPr>
              <a:t>What is Apollo?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118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>
                <a:solidFill>
                  <a:srgbClr val="3D3D3D"/>
                </a:solidFill>
                <a:latin typeface="Avenir Next"/>
              </a:rPr>
              <a:t>An online course marketplace that connects instructors and learners.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240280"/>
            <a:ext cx="10911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300">
                <a:solidFill>
                  <a:srgbClr val="3D3D3D"/>
                </a:solidFill>
                <a:latin typeface="Avenir Next"/>
              </a:rPr>
              <a:t>Instructors publish and sell courses</a:t>
            </a:r>
          </a:p>
          <a:p>
            <a:pPr>
              <a:spcAft>
                <a:spcPts val="600"/>
              </a:spcAft>
            </a:pPr>
            <a:r>
              <a:rPr sz="2300">
                <a:solidFill>
                  <a:srgbClr val="3D3D3D"/>
                </a:solidFill>
                <a:latin typeface="Avenir Next"/>
              </a:rPr>
              <a:t>Students discover, purchase, and track progress</a:t>
            </a:r>
          </a:p>
          <a:p>
            <a:pPr>
              <a:spcAft>
                <a:spcPts val="600"/>
              </a:spcAft>
            </a:pPr>
            <a:r>
              <a:rPr sz="2300">
                <a:solidFill>
                  <a:srgbClr val="3D3D3D"/>
                </a:solidFill>
                <a:latin typeface="Avenir Next"/>
              </a:rPr>
              <a:t>Admins review content and ensure quality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pollo_bg_v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411480"/>
            <a:ext cx="109118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200" b="1">
                <a:solidFill>
                  <a:srgbClr val="1C1D1F"/>
                </a:solidFill>
                <a:latin typeface="Avenir Next"/>
              </a:rP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737360"/>
            <a:ext cx="5227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1C1D1F"/>
                </a:solidFill>
                <a:latin typeface="Avenir Next"/>
              </a:rPr>
              <a:t>For instructors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286000"/>
            <a:ext cx="52273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200">
                <a:solidFill>
                  <a:srgbClr val="3D3D3D"/>
                </a:solidFill>
                <a:latin typeface="Avenir Next"/>
              </a:rPr>
              <a:t>Reaching an audience is expensive</a:t>
            </a:r>
          </a:p>
          <a:p>
            <a:pPr>
              <a:spcAft>
                <a:spcPts val="600"/>
              </a:spcAft>
            </a:pPr>
            <a:r>
              <a:rPr sz="2200">
                <a:solidFill>
                  <a:srgbClr val="3D3D3D"/>
                </a:solidFill>
                <a:latin typeface="Avenir Next"/>
              </a:rPr>
              <a:t>Building a platform takes time and capital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24600" y="1737360"/>
            <a:ext cx="5227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1C1D1F"/>
                </a:solidFill>
                <a:latin typeface="Avenir Next"/>
              </a:rPr>
              <a:t>For students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24600" y="2286000"/>
            <a:ext cx="52273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200">
                <a:solidFill>
                  <a:srgbClr val="3D3D3D"/>
                </a:solidFill>
                <a:latin typeface="Avenir Next"/>
              </a:rPr>
              <a:t>Quality is hard to judge before purchase</a:t>
            </a:r>
          </a:p>
          <a:p>
            <a:pPr>
              <a:spcAft>
                <a:spcPts val="600"/>
              </a:spcAft>
            </a:pPr>
            <a:r>
              <a:rPr sz="2200">
                <a:solidFill>
                  <a:srgbClr val="3D3D3D"/>
                </a:solidFill>
                <a:latin typeface="Avenir Next"/>
              </a:rPr>
              <a:t>Progress is fragmented across tools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pollo_bg_v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411480"/>
            <a:ext cx="109118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200" b="1">
                <a:solidFill>
                  <a:srgbClr val="1C1D1F"/>
                </a:solidFill>
                <a:latin typeface="Avenir Next"/>
              </a:rPr>
              <a:t>Our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920240"/>
            <a:ext cx="10911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300">
                <a:solidFill>
                  <a:srgbClr val="3D3D3D"/>
                </a:solidFill>
                <a:latin typeface="Avenir Next"/>
              </a:rPr>
              <a:t>Launch-ready marketplace for instructors</a:t>
            </a:r>
          </a:p>
          <a:p>
            <a:pPr>
              <a:spcAft>
                <a:spcPts val="600"/>
              </a:spcAft>
            </a:pPr>
            <a:r>
              <a:rPr sz="2300">
                <a:solidFill>
                  <a:srgbClr val="3D3D3D"/>
                </a:solidFill>
                <a:latin typeface="Avenir Next"/>
              </a:rPr>
              <a:t>Built-in Stripe checkout and payouts</a:t>
            </a:r>
          </a:p>
          <a:p>
            <a:pPr>
              <a:spcAft>
                <a:spcPts val="600"/>
              </a:spcAft>
            </a:pPr>
            <a:r>
              <a:rPr sz="2300">
                <a:solidFill>
                  <a:srgbClr val="3D3D3D"/>
                </a:solidFill>
                <a:latin typeface="Avenir Next"/>
              </a:rPr>
              <a:t>Progress tracking and completion insights</a:t>
            </a:r>
          </a:p>
          <a:p>
            <a:pPr>
              <a:spcAft>
                <a:spcPts val="600"/>
              </a:spcAft>
            </a:pPr>
            <a:r>
              <a:rPr sz="2300">
                <a:solidFill>
                  <a:srgbClr val="3D3D3D"/>
                </a:solidFill>
                <a:latin typeface="Avenir Next"/>
              </a:rPr>
              <a:t>Admin moderation and quality controls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pollo_bg_v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411480"/>
            <a:ext cx="109118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200" b="1">
                <a:solidFill>
                  <a:srgbClr val="1C1D1F"/>
                </a:solidFill>
                <a:latin typeface="Avenir Next"/>
              </a:rPr>
              <a:t>How It Works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2468880"/>
            <a:ext cx="3291840" cy="1280160"/>
          </a:xfrm>
          <a:prstGeom prst="roundRect">
            <a:avLst/>
          </a:prstGeom>
          <a:solidFill>
            <a:srgbClr val="F6FAEC"/>
          </a:solidFill>
          <a:ln>
            <a:solidFill>
              <a:srgbClr val="E6E3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1C1D1F"/>
                </a:solidFill>
                <a:latin typeface="Avenir Next"/>
              </a:rPr>
              <a:t>1. Create course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51960" y="2468880"/>
            <a:ext cx="3291840" cy="1280160"/>
          </a:xfrm>
          <a:prstGeom prst="roundRect">
            <a:avLst/>
          </a:prstGeom>
          <a:solidFill>
            <a:srgbClr val="F6FAEC"/>
          </a:solidFill>
          <a:ln>
            <a:solidFill>
              <a:srgbClr val="E6E3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1C1D1F"/>
                </a:solidFill>
                <a:latin typeface="Avenir Next"/>
              </a:rPr>
              <a:t>2. Review and approve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863840" y="2468880"/>
            <a:ext cx="3291840" cy="1280160"/>
          </a:xfrm>
          <a:prstGeom prst="roundRect">
            <a:avLst/>
          </a:prstGeom>
          <a:solidFill>
            <a:srgbClr val="F6FAEC"/>
          </a:solidFill>
          <a:ln>
            <a:solidFill>
              <a:srgbClr val="E6E3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1C1D1F"/>
                </a:solidFill>
                <a:latin typeface="Avenir Next"/>
              </a:rPr>
              <a:t>3. Enroll and learn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pollo_bg_v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411480"/>
            <a:ext cx="109118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200" b="1">
                <a:solidFill>
                  <a:srgbClr val="1C1D1F"/>
                </a:solidFill>
                <a:latin typeface="Avenir Next"/>
              </a:rPr>
              <a:t>Key Features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920240"/>
            <a:ext cx="10911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200">
                <a:solidFill>
                  <a:srgbClr val="3D3D3D"/>
                </a:solidFill>
                <a:latin typeface="Avenir Next"/>
              </a:rPr>
              <a:t>Public catalog with search and filters</a:t>
            </a:r>
          </a:p>
          <a:p>
            <a:pPr>
              <a:spcAft>
                <a:spcPts val="600"/>
              </a:spcAft>
            </a:pPr>
            <a:r>
              <a:rPr sz="2200">
                <a:solidFill>
                  <a:srgbClr val="3D3D3D"/>
                </a:solidFill>
                <a:latin typeface="Avenir Next"/>
              </a:rPr>
              <a:t>Secure payments via Stripe</a:t>
            </a:r>
          </a:p>
          <a:p>
            <a:pPr>
              <a:spcAft>
                <a:spcPts val="600"/>
              </a:spcAft>
            </a:pPr>
            <a:r>
              <a:rPr sz="2200">
                <a:solidFill>
                  <a:srgbClr val="3D3D3D"/>
                </a:solidFill>
                <a:latin typeface="Avenir Next"/>
              </a:rPr>
              <a:t>Course progress and completion tracking</a:t>
            </a:r>
          </a:p>
          <a:p>
            <a:pPr>
              <a:spcAft>
                <a:spcPts val="600"/>
              </a:spcAft>
            </a:pPr>
            <a:r>
              <a:rPr sz="2200">
                <a:solidFill>
                  <a:srgbClr val="3D3D3D"/>
                </a:solidFill>
                <a:latin typeface="Avenir Next"/>
              </a:rPr>
              <a:t>Role-based dashboards for students, instructors, and admins</a:t>
            </a:r>
          </a:p>
          <a:p>
            <a:pPr>
              <a:spcAft>
                <a:spcPts val="600"/>
              </a:spcAft>
            </a:pPr>
            <a:r>
              <a:rPr sz="2200">
                <a:solidFill>
                  <a:srgbClr val="3D3D3D"/>
                </a:solidFill>
                <a:latin typeface="Avenir Next"/>
              </a:rPr>
              <a:t>Content review and moderation tools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pollo_bg_v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411480"/>
            <a:ext cx="109118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200" b="1">
                <a:solidFill>
                  <a:srgbClr val="1C1D1F"/>
                </a:solidFill>
                <a:latin typeface="Avenir Next"/>
              </a:rPr>
              <a:t>User Roles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828800"/>
          <a:ext cx="10911840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55920"/>
                <a:gridCol w="5455920"/>
              </a:tblGrid>
              <a:tr h="754380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1C1D1F"/>
                          </a:solidFill>
                          <a:latin typeface="Avenir Next"/>
                        </a:rPr>
                        <a:t>Role</a:t>
                      </a:r>
                    </a:p>
                  </a:txBody>
                  <a:tcPr>
                    <a:solidFill>
                      <a:srgbClr val="F6F5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1C1D1F"/>
                          </a:solidFill>
                          <a:latin typeface="Avenir Next"/>
                        </a:rPr>
                        <a:t>Can Do</a:t>
                      </a:r>
                    </a:p>
                  </a:txBody>
                  <a:tcPr>
                    <a:solidFill>
                      <a:srgbClr val="F6F5F2"/>
                    </a:solidFill>
                  </a:tcPr>
                </a:tc>
              </a:tr>
              <a:tr h="754380">
                <a:tc>
                  <a:txBody>
                    <a:bodyPr/>
                    <a:lstStyle/>
                    <a:p>
                      <a:r>
                        <a:rPr sz="1700" b="1">
                          <a:solidFill>
                            <a:srgbClr val="3D3D3D"/>
                          </a:solidFill>
                          <a:latin typeface="Avenir Next"/>
                        </a:rPr>
                        <a:t>Student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3D3D3D"/>
                          </a:solidFill>
                          <a:latin typeface="Avenir Next"/>
                        </a:rPr>
                        <a:t>Browse, purchase, learn, track progress</a:t>
                      </a:r>
                    </a:p>
                  </a:txBody>
                  <a:tcPr/>
                </a:tc>
              </a:tr>
              <a:tr h="754380">
                <a:tc>
                  <a:txBody>
                    <a:bodyPr/>
                    <a:lstStyle/>
                    <a:p>
                      <a:r>
                        <a:rPr sz="1700" b="1">
                          <a:solidFill>
                            <a:srgbClr val="3D3D3D"/>
                          </a:solidFill>
                          <a:latin typeface="Avenir Next"/>
                        </a:rPr>
                        <a:t>Instructor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3D3D3D"/>
                          </a:solidFill>
                          <a:latin typeface="Avenir Next"/>
                        </a:rPr>
                        <a:t>Create courses, manage content, view sales</a:t>
                      </a:r>
                    </a:p>
                  </a:txBody>
                  <a:tcPr/>
                </a:tc>
              </a:tr>
              <a:tr h="754380">
                <a:tc>
                  <a:txBody>
                    <a:bodyPr/>
                    <a:lstStyle/>
                    <a:p>
                      <a:r>
                        <a:rPr sz="1700" b="1">
                          <a:solidFill>
                            <a:srgbClr val="3D3D3D"/>
                          </a:solidFill>
                          <a:latin typeface="Avenir Next"/>
                        </a:rPr>
                        <a:t>Admin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3D3D3D"/>
                          </a:solidFill>
                          <a:latin typeface="Avenir Next"/>
                        </a:rPr>
                        <a:t>Approve courses, manage users, ensure quality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-land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548640" y="5989320"/>
            <a:ext cx="3840480" cy="457200"/>
          </a:xfrm>
          <a:prstGeom prst="roundRect">
            <a:avLst/>
          </a:prstGeom>
          <a:solidFill>
            <a:srgbClr val="FFFFFF"/>
          </a:solidFill>
          <a:ln>
            <a:solidFill>
              <a:srgbClr val="E6E3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13232" y="6126480"/>
            <a:ext cx="164592" cy="164592"/>
          </a:xfrm>
          <a:prstGeom prst="ellipse">
            <a:avLst/>
          </a:prstGeom>
          <a:solidFill>
            <a:srgbClr val="CBEC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6035040"/>
            <a:ext cx="3383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1C1D1F"/>
                </a:solidFill>
                <a:latin typeface="Avenir Next"/>
              </a:rPr>
              <a:t>Demo: Landing Page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-course-detai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548640" y="5989320"/>
            <a:ext cx="3840480" cy="457200"/>
          </a:xfrm>
          <a:prstGeom prst="roundRect">
            <a:avLst/>
          </a:prstGeom>
          <a:solidFill>
            <a:srgbClr val="FFFFFF"/>
          </a:solidFill>
          <a:ln>
            <a:solidFill>
              <a:srgbClr val="E6E3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13232" y="6126480"/>
            <a:ext cx="164592" cy="164592"/>
          </a:xfrm>
          <a:prstGeom prst="ellipse">
            <a:avLst/>
          </a:prstGeom>
          <a:solidFill>
            <a:srgbClr val="CBEC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6035040"/>
            <a:ext cx="3383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1C1D1F"/>
                </a:solidFill>
                <a:latin typeface="Avenir Next"/>
              </a:rPr>
              <a:t>Demo: Course Detail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3-log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548640" y="5989320"/>
            <a:ext cx="3840480" cy="457200"/>
          </a:xfrm>
          <a:prstGeom prst="roundRect">
            <a:avLst/>
          </a:prstGeom>
          <a:solidFill>
            <a:srgbClr val="FFFFFF"/>
          </a:solidFill>
          <a:ln>
            <a:solidFill>
              <a:srgbClr val="E6E3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13232" y="6126480"/>
            <a:ext cx="164592" cy="164592"/>
          </a:xfrm>
          <a:prstGeom prst="ellipse">
            <a:avLst/>
          </a:prstGeom>
          <a:solidFill>
            <a:srgbClr val="CBEC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6035040"/>
            <a:ext cx="3383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1C1D1F"/>
                </a:solidFill>
                <a:latin typeface="Avenir Next"/>
              </a:rPr>
              <a:t>Demo: Login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4-regis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548640" y="5989320"/>
            <a:ext cx="3840480" cy="457200"/>
          </a:xfrm>
          <a:prstGeom prst="roundRect">
            <a:avLst/>
          </a:prstGeom>
          <a:solidFill>
            <a:srgbClr val="FFFFFF"/>
          </a:solidFill>
          <a:ln>
            <a:solidFill>
              <a:srgbClr val="E6E3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13232" y="6126480"/>
            <a:ext cx="164592" cy="164592"/>
          </a:xfrm>
          <a:prstGeom prst="ellipse">
            <a:avLst/>
          </a:prstGeom>
          <a:solidFill>
            <a:srgbClr val="CBEC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6035040"/>
            <a:ext cx="3383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1C1D1F"/>
                </a:solidFill>
                <a:latin typeface="Avenir Next"/>
              </a:rPr>
              <a:t>Demo: Register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5-student-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548640" y="5989320"/>
            <a:ext cx="3840480" cy="457200"/>
          </a:xfrm>
          <a:prstGeom prst="roundRect">
            <a:avLst/>
          </a:prstGeom>
          <a:solidFill>
            <a:srgbClr val="FFFFFF"/>
          </a:solidFill>
          <a:ln>
            <a:solidFill>
              <a:srgbClr val="E6E3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13232" y="6126480"/>
            <a:ext cx="164592" cy="164592"/>
          </a:xfrm>
          <a:prstGeom prst="ellipse">
            <a:avLst/>
          </a:prstGeom>
          <a:solidFill>
            <a:srgbClr val="CBEC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6035040"/>
            <a:ext cx="3383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1C1D1F"/>
                </a:solidFill>
                <a:latin typeface="Avenir Next"/>
              </a:rPr>
              <a:t>Demo: Student Dashboard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6-course-curriculu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548640" y="5989320"/>
            <a:ext cx="3840480" cy="457200"/>
          </a:xfrm>
          <a:prstGeom prst="roundRect">
            <a:avLst/>
          </a:prstGeom>
          <a:solidFill>
            <a:srgbClr val="FFFFFF"/>
          </a:solidFill>
          <a:ln>
            <a:solidFill>
              <a:srgbClr val="E6E3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13232" y="6126480"/>
            <a:ext cx="164592" cy="164592"/>
          </a:xfrm>
          <a:prstGeom prst="ellipse">
            <a:avLst/>
          </a:prstGeom>
          <a:solidFill>
            <a:srgbClr val="CBEC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6035040"/>
            <a:ext cx="3383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1C1D1F"/>
                </a:solidFill>
                <a:latin typeface="Avenir Next"/>
              </a:rPr>
              <a:t>Demo: Course Curriculum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7-instructor-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548640" y="5989320"/>
            <a:ext cx="3840480" cy="457200"/>
          </a:xfrm>
          <a:prstGeom prst="roundRect">
            <a:avLst/>
          </a:prstGeom>
          <a:solidFill>
            <a:srgbClr val="FFFFFF"/>
          </a:solidFill>
          <a:ln>
            <a:solidFill>
              <a:srgbClr val="E6E3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13232" y="6126480"/>
            <a:ext cx="164592" cy="164592"/>
          </a:xfrm>
          <a:prstGeom prst="ellipse">
            <a:avLst/>
          </a:prstGeom>
          <a:solidFill>
            <a:srgbClr val="CBEC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6035040"/>
            <a:ext cx="3383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1C1D1F"/>
                </a:solidFill>
                <a:latin typeface="Avenir Next"/>
              </a:rPr>
              <a:t>Demo: Instructor Overview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8-instructor-create-cour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548640" y="5989320"/>
            <a:ext cx="3840480" cy="457200"/>
          </a:xfrm>
          <a:prstGeom prst="roundRect">
            <a:avLst/>
          </a:prstGeom>
          <a:solidFill>
            <a:srgbClr val="FFFFFF"/>
          </a:solidFill>
          <a:ln>
            <a:solidFill>
              <a:srgbClr val="E6E3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13232" y="6126480"/>
            <a:ext cx="164592" cy="164592"/>
          </a:xfrm>
          <a:prstGeom prst="ellipse">
            <a:avLst/>
          </a:prstGeom>
          <a:solidFill>
            <a:srgbClr val="CBEC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6035040"/>
            <a:ext cx="3383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1C1D1F"/>
                </a:solidFill>
                <a:latin typeface="Avenir Next"/>
              </a:rPr>
              <a:t>Demo: Instructor – Create Course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9-admin-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548640" y="5989320"/>
            <a:ext cx="3840480" cy="457200"/>
          </a:xfrm>
          <a:prstGeom prst="roundRect">
            <a:avLst/>
          </a:prstGeom>
          <a:solidFill>
            <a:srgbClr val="FFFFFF"/>
          </a:solidFill>
          <a:ln>
            <a:solidFill>
              <a:srgbClr val="E6E3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13232" y="6126480"/>
            <a:ext cx="164592" cy="164592"/>
          </a:xfrm>
          <a:prstGeom prst="ellipse">
            <a:avLst/>
          </a:prstGeom>
          <a:solidFill>
            <a:srgbClr val="CBEC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6035040"/>
            <a:ext cx="3383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1C1D1F"/>
                </a:solidFill>
                <a:latin typeface="Avenir Next"/>
              </a:rPr>
              <a:t>Demo: Admin Overview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-course-play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548640" y="5989320"/>
            <a:ext cx="3840480" cy="457200"/>
          </a:xfrm>
          <a:prstGeom prst="roundRect">
            <a:avLst/>
          </a:prstGeom>
          <a:solidFill>
            <a:srgbClr val="FFFFFF"/>
          </a:solidFill>
          <a:ln>
            <a:solidFill>
              <a:srgbClr val="E6E3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13232" y="6126480"/>
            <a:ext cx="164592" cy="164592"/>
          </a:xfrm>
          <a:prstGeom prst="ellipse">
            <a:avLst/>
          </a:prstGeom>
          <a:solidFill>
            <a:srgbClr val="CBEC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6035040"/>
            <a:ext cx="3383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1C1D1F"/>
                </a:solidFill>
                <a:latin typeface="Avenir Next"/>
              </a:rPr>
              <a:t>Demo: Course Player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pollo_bg_v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411480"/>
            <a:ext cx="109118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200" b="1">
                <a:solidFill>
                  <a:srgbClr val="1C1D1F"/>
                </a:solidFill>
                <a:latin typeface="Avenir Next"/>
              </a:rPr>
              <a:t>Tech Stack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828800"/>
          <a:ext cx="1091184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55920"/>
                <a:gridCol w="5455920"/>
              </a:tblGrid>
              <a:tr h="640080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1C1D1F"/>
                          </a:solidFill>
                          <a:latin typeface="Avenir Next"/>
                        </a:rPr>
                        <a:t>Layer</a:t>
                      </a:r>
                    </a:p>
                  </a:txBody>
                  <a:tcPr>
                    <a:solidFill>
                      <a:srgbClr val="F6F5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1C1D1F"/>
                          </a:solidFill>
                          <a:latin typeface="Avenir Next"/>
                        </a:rPr>
                        <a:t>Technology</a:t>
                      </a:r>
                    </a:p>
                  </a:txBody>
                  <a:tcPr>
                    <a:solidFill>
                      <a:srgbClr val="F6F5F2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1700" b="1">
                          <a:solidFill>
                            <a:srgbClr val="3D3D3D"/>
                          </a:solidFill>
                          <a:latin typeface="Avenir Next"/>
                        </a:rPr>
                        <a:t>Frontend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3D3D3D"/>
                          </a:solidFill>
                          <a:latin typeface="Avenir Next"/>
                        </a:rPr>
                        <a:t>React + TypeScript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1700" b="1">
                          <a:solidFill>
                            <a:srgbClr val="3D3D3D"/>
                          </a:solidFill>
                          <a:latin typeface="Avenir Next"/>
                        </a:rPr>
                        <a:t>Backend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3D3D3D"/>
                          </a:solidFill>
                          <a:latin typeface="Avenir Next"/>
                        </a:rPr>
                        <a:t>Node.js + Express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1700" b="1">
                          <a:solidFill>
                            <a:srgbClr val="3D3D3D"/>
                          </a:solidFill>
                          <a:latin typeface="Avenir Next"/>
                        </a:rPr>
                        <a:t>Database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3D3D3D"/>
                          </a:solidFill>
                          <a:latin typeface="Avenir Next"/>
                        </a:rPr>
                        <a:t>PostgreSQL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1700" b="1">
                          <a:solidFill>
                            <a:srgbClr val="3D3D3D"/>
                          </a:solidFill>
                          <a:latin typeface="Avenir Next"/>
                        </a:rPr>
                        <a:t>Payments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3D3D3D"/>
                          </a:solidFill>
                          <a:latin typeface="Avenir Next"/>
                        </a:rPr>
                        <a:t>Stripe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pollo_bg_v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411480"/>
            <a:ext cx="109118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200" b="1">
                <a:solidFill>
                  <a:srgbClr val="1C1D1F"/>
                </a:solidFill>
                <a:latin typeface="Avenir Next"/>
              </a:rPr>
              <a:t>Architecture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2194560"/>
            <a:ext cx="292608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E6E3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1C1D1F"/>
                </a:solidFill>
                <a:latin typeface="Avenir Next"/>
              </a:rPr>
              <a:t>Frontend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2194560"/>
            <a:ext cx="292608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E6E3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1C1D1F"/>
                </a:solidFill>
                <a:latin typeface="Avenir Next"/>
              </a:rPr>
              <a:t>Backend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828800" y="4206240"/>
            <a:ext cx="237744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E6E3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1C1D1F"/>
                </a:solidFill>
                <a:latin typeface="Avenir Next"/>
              </a:rPr>
              <a:t>PostgreSQL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0" y="4206240"/>
            <a:ext cx="237744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E6E3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1C1D1F"/>
                </a:solidFill>
                <a:latin typeface="Avenir Next"/>
              </a:rPr>
              <a:t>Stripe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0" y="4206240"/>
            <a:ext cx="256032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E6E3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1C1D1F"/>
                </a:solidFill>
                <a:latin typeface="Avenir Next"/>
              </a:rPr>
              <a:t>Cloudinary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749039" y="2651760"/>
            <a:ext cx="640081" cy="0"/>
          </a:xfrm>
          <a:prstGeom prst="line">
            <a:avLst/>
          </a:prstGeom>
          <a:ln w="25400">
            <a:solidFill>
              <a:srgbClr val="B4B4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3017520" y="3108960"/>
            <a:ext cx="2834640" cy="1097280"/>
          </a:xfrm>
          <a:prstGeom prst="line">
            <a:avLst/>
          </a:prstGeom>
          <a:ln w="25400">
            <a:solidFill>
              <a:srgbClr val="B4B4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H="1">
            <a:off x="5760720" y="3108960"/>
            <a:ext cx="91440" cy="1097280"/>
          </a:xfrm>
          <a:prstGeom prst="line">
            <a:avLst/>
          </a:prstGeom>
          <a:ln w="25400">
            <a:solidFill>
              <a:srgbClr val="B4B4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5852160" y="3108960"/>
            <a:ext cx="2651760" cy="1097280"/>
          </a:xfrm>
          <a:prstGeom prst="line">
            <a:avLst/>
          </a:prstGeom>
          <a:ln w="25400">
            <a:solidFill>
              <a:srgbClr val="B4B4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pollo_bg_v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411480"/>
            <a:ext cx="109118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200" b="1">
                <a:solidFill>
                  <a:srgbClr val="1C1D1F"/>
                </a:solidFill>
                <a:latin typeface="Avenir Next"/>
              </a:rPr>
              <a:t>Progress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828800"/>
          <a:ext cx="10911840" cy="3383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55920"/>
                <a:gridCol w="5455920"/>
              </a:tblGrid>
              <a:tr h="563880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1C1D1F"/>
                          </a:solidFill>
                          <a:latin typeface="Avenir Next"/>
                        </a:rPr>
                        <a:t>Feature</a:t>
                      </a:r>
                    </a:p>
                  </a:txBody>
                  <a:tcPr>
                    <a:solidFill>
                      <a:srgbClr val="F6F5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1C1D1F"/>
                          </a:solidFill>
                          <a:latin typeface="Avenir Next"/>
                        </a:rPr>
                        <a:t>Status</a:t>
                      </a:r>
                    </a:p>
                  </a:txBody>
                  <a:tcPr>
                    <a:solidFill>
                      <a:srgbClr val="F6F5F2"/>
                    </a:solidFill>
                  </a:tcPr>
                </a:tc>
              </a:tr>
              <a:tr h="563880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3D3D3D"/>
                          </a:solidFill>
                          <a:latin typeface="Avenir Next"/>
                        </a:rPr>
                        <a:t>Authentication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700" b="1">
                          <a:solidFill>
                            <a:srgbClr val="3D3D3D"/>
                          </a:solidFill>
                          <a:latin typeface="Avenir Next"/>
                        </a:rPr>
                        <a:t>Complete</a:t>
                      </a:r>
                    </a:p>
                  </a:txBody>
                  <a:tcPr/>
                </a:tc>
              </a:tr>
              <a:tr h="563880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3D3D3D"/>
                          </a:solidFill>
                          <a:latin typeface="Avenir Next"/>
                        </a:rPr>
                        <a:t>Course management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700" b="1">
                          <a:solidFill>
                            <a:srgbClr val="3D3D3D"/>
                          </a:solidFill>
                          <a:latin typeface="Avenir Next"/>
                        </a:rPr>
                        <a:t>Complete</a:t>
                      </a:r>
                    </a:p>
                  </a:txBody>
                  <a:tcPr/>
                </a:tc>
              </a:tr>
              <a:tr h="563880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3D3D3D"/>
                          </a:solidFill>
                          <a:latin typeface="Avenir Next"/>
                        </a:rPr>
                        <a:t>Payments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700" b="1">
                          <a:solidFill>
                            <a:srgbClr val="3D3D3D"/>
                          </a:solidFill>
                          <a:latin typeface="Avenir Next"/>
                        </a:rPr>
                        <a:t>Complete</a:t>
                      </a:r>
                    </a:p>
                  </a:txBody>
                  <a:tcPr/>
                </a:tc>
              </a:tr>
              <a:tr h="563880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3D3D3D"/>
                          </a:solidFill>
                          <a:latin typeface="Avenir Next"/>
                        </a:rPr>
                        <a:t>Learning experience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700" b="1">
                          <a:solidFill>
                            <a:srgbClr val="3D3D3D"/>
                          </a:solidFill>
                          <a:latin typeface="Avenir Next"/>
                        </a:rPr>
                        <a:t>Complete</a:t>
                      </a:r>
                    </a:p>
                  </a:txBody>
                  <a:tcPr/>
                </a:tc>
              </a:tr>
              <a:tr h="563880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3D3D3D"/>
                          </a:solidFill>
                          <a:latin typeface="Avenir Next"/>
                        </a:rPr>
                        <a:t>Admin tools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700" b="1">
                          <a:solidFill>
                            <a:srgbClr val="3D3D3D"/>
                          </a:solidFill>
                          <a:latin typeface="Avenir Next"/>
                        </a:rPr>
                        <a:t>Complete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pollo_bg_v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411480"/>
            <a:ext cx="109118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200" b="1">
                <a:solidFill>
                  <a:srgbClr val="1C1D1F"/>
                </a:solidFill>
                <a:latin typeface="Avenir Next"/>
              </a:rPr>
              <a:t>What's Next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737360"/>
            <a:ext cx="518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1C1D1F"/>
                </a:solidFill>
                <a:latin typeface="Avenir Next"/>
              </a:rPr>
              <a:t>Short term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286000"/>
            <a:ext cx="5181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200">
                <a:solidFill>
                  <a:srgbClr val="3D3D3D"/>
                </a:solidFill>
                <a:latin typeface="Avenir Next"/>
              </a:rPr>
              <a:t>Video uploads</a:t>
            </a:r>
          </a:p>
          <a:p>
            <a:pPr>
              <a:spcAft>
                <a:spcPts val="600"/>
              </a:spcAft>
            </a:pPr>
            <a:r>
              <a:rPr sz="2200">
                <a:solidFill>
                  <a:srgbClr val="3D3D3D"/>
                </a:solidFill>
                <a:latin typeface="Avenir Next"/>
              </a:rPr>
              <a:t>Quizzes and assessments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70320" y="1737360"/>
            <a:ext cx="518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1C1D1F"/>
                </a:solidFill>
                <a:latin typeface="Avenir Next"/>
              </a:rPr>
              <a:t>Long term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70320" y="2286000"/>
            <a:ext cx="5181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200">
                <a:solidFill>
                  <a:srgbClr val="3D3D3D"/>
                </a:solidFill>
                <a:latin typeface="Avenir Next"/>
              </a:rPr>
              <a:t>Certificates</a:t>
            </a:r>
          </a:p>
          <a:p>
            <a:pPr>
              <a:spcAft>
                <a:spcPts val="600"/>
              </a:spcAft>
            </a:pPr>
            <a:r>
              <a:rPr sz="2200">
                <a:solidFill>
                  <a:srgbClr val="3D3D3D"/>
                </a:solidFill>
                <a:latin typeface="Avenir Next"/>
              </a:rPr>
              <a:t>Mobile app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pollo_bg_v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411480"/>
            <a:ext cx="109118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200" b="1">
                <a:solidFill>
                  <a:srgbClr val="1C1D1F"/>
                </a:solidFill>
                <a:latin typeface="Avenir Next"/>
              </a:rPr>
              <a:t>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011680"/>
            <a:ext cx="10911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300">
                <a:solidFill>
                  <a:srgbClr val="3D3D3D"/>
                </a:solidFill>
                <a:latin typeface="Avenir Next"/>
              </a:rPr>
              <a:t>Instructors can monetize knowledge with a ready marketplace</a:t>
            </a:r>
          </a:p>
          <a:p>
            <a:pPr>
              <a:spcAft>
                <a:spcPts val="600"/>
              </a:spcAft>
            </a:pPr>
            <a:r>
              <a:rPr sz="2300">
                <a:solidFill>
                  <a:srgbClr val="3D3D3D"/>
                </a:solidFill>
                <a:latin typeface="Avenir Next"/>
              </a:rPr>
              <a:t>Students learn effectively with guided progress</a:t>
            </a:r>
          </a:p>
          <a:p>
            <a:pPr>
              <a:spcAft>
                <a:spcPts val="600"/>
              </a:spcAft>
            </a:pPr>
            <a:r>
              <a:rPr sz="2300">
                <a:solidFill>
                  <a:srgbClr val="3D3D3D"/>
                </a:solidFill>
                <a:latin typeface="Avenir Next"/>
              </a:rPr>
              <a:t>Admins maintain quality and trust at scale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pollo_bg_v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2377440"/>
            <a:ext cx="10363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5200" b="1">
                <a:solidFill>
                  <a:srgbClr val="1C1D1F"/>
                </a:solidFill>
                <a:latin typeface="Avenir Next"/>
              </a:rPr>
              <a:t>Questions?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pollo_bg_v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411480"/>
            <a:ext cx="109118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200" b="1">
                <a:solidFill>
                  <a:srgbClr val="1C1D1F"/>
                </a:solidFill>
                <a:latin typeface="Avenir Next"/>
              </a:rPr>
              <a:t>Test Accounts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828800"/>
          <a:ext cx="1091184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55920"/>
                <a:gridCol w="5455920"/>
              </a:tblGrid>
              <a:tr h="594360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1C1D1F"/>
                          </a:solidFill>
                          <a:latin typeface="Avenir Next"/>
                        </a:rPr>
                        <a:t>Role</a:t>
                      </a:r>
                    </a:p>
                  </a:txBody>
                  <a:tcPr>
                    <a:solidFill>
                      <a:srgbClr val="F6F5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1C1D1F"/>
                          </a:solidFill>
                          <a:latin typeface="Avenir Next"/>
                        </a:rPr>
                        <a:t>Email</a:t>
                      </a:r>
                    </a:p>
                  </a:txBody>
                  <a:tcPr>
                    <a:solidFill>
                      <a:srgbClr val="F6F5F2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r>
                        <a:rPr sz="1700" b="1">
                          <a:solidFill>
                            <a:srgbClr val="3D3D3D"/>
                          </a:solidFill>
                          <a:latin typeface="Avenir Next"/>
                        </a:rPr>
                        <a:t>Admin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3D3D3D"/>
                          </a:solidFill>
                          <a:latin typeface="Avenir Next"/>
                        </a:rPr>
                        <a:t>admin@apollo.local</a:t>
                      </a:r>
                    </a:p>
                  </a:txBody>
                  <a:tcPr/>
                </a:tc>
              </a:tr>
              <a:tr h="594360">
                <a:tc>
                  <a:txBody>
                    <a:bodyPr/>
                    <a:lstStyle/>
                    <a:p>
                      <a:r>
                        <a:rPr sz="1700" b="1">
                          <a:solidFill>
                            <a:srgbClr val="3D3D3D"/>
                          </a:solidFill>
                          <a:latin typeface="Avenir Next"/>
                        </a:rPr>
                        <a:t>Instructor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3D3D3D"/>
                          </a:solidFill>
                          <a:latin typeface="Avenir Next"/>
                        </a:rPr>
                        <a:t>instructor@apollo.local</a:t>
                      </a:r>
                    </a:p>
                  </a:txBody>
                  <a:tcPr/>
                </a:tc>
              </a:tr>
              <a:tr h="594360">
                <a:tc>
                  <a:txBody>
                    <a:bodyPr/>
                    <a:lstStyle/>
                    <a:p>
                      <a:r>
                        <a:rPr sz="1700" b="1">
                          <a:solidFill>
                            <a:srgbClr val="3D3D3D"/>
                          </a:solidFill>
                          <a:latin typeface="Avenir Next"/>
                        </a:rPr>
                        <a:t>Student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3D3D3D"/>
                          </a:solidFill>
                          <a:latin typeface="Avenir Next"/>
                        </a:rPr>
                        <a:t>student@apollo.local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" y="4663440"/>
            <a:ext cx="109118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>
                <a:solidFill>
                  <a:srgbClr val="3D3D3D"/>
                </a:solidFill>
                <a:latin typeface="Avenir Next"/>
              </a:rPr>
              <a:t>Password: Password123!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